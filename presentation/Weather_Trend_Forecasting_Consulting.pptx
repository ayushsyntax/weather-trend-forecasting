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3791" autoAdjust="0"/>
  </p:normalViewPr>
  <p:slideViewPr>
    <p:cSldViewPr snapToGrid="0" snapToObjects="1">
      <p:cViewPr varScale="1">
        <p:scale>
          <a:sx n="91" d="100"/>
          <a:sy n="91" d="100"/>
        </p:scale>
        <p:origin x="1210" y="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62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I'm presenting my Weather Trend Forecasting project for the PM Accelerator Tech Assessment. This project aligns with the PM Accelerator mission by utilizing advanced data science to build predictive, actionable business solutions.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 a high level, I built an end-to-end machine learning pipeline to model global temperatures. By applying algorithms like XGBoost, the model achieved high accuracy on the test set, demonstrating the predictive capacity of the features.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foundation of this project is the Global Weather Repository from Kaggle. It contains over 148,000 daily records across 41 features, giving us a robust global footprint covering both standard weather metrics and deep air quality indices.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ensure model integrity, I built a strict preprocessing pipeline. I used median imputation for missing values to avoid skewing, applied IQR capping to reign in extreme outliers without losing data, and engineered temporal features before standardizing the dataset.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During EDA, we observed that temperatures in the dataset follow a near-normal distribution, while precipitation is heavily right-skewed. This insight justified our outlier capping strategy for precipitation.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forecasting, I trained four models. I started with a Linear Regression baseline, but quickly scaled up to Random Forest and XGBoost to handle the complex, non-linear relationships inherent in weather data, eventually combining them into a powerful Ensemble model.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Evaluating the models, XGBoost and Random Forest were the clear winners, both achieving an incredible R-squared of over 98%. XGBoost edged out with the lowest Root Mean Squared Error, proving that gradient boosting is highly effective for meteorological forecasting.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Visually, the model's predictions track the actual temperatures over time in the test set. The deviations occur during extreme peaks, indicating limitations when minimizing mean squared error.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we look under the hood of our XGBoost model, we see that feels_like_celsius drives the vast majority of predictions, leaving humidity, pressure, and visibility with minimal contributions.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Beyond forecasting, I implemented an Isolation Forest algorithm that flagged 1% of the data as extreme statistical anomalies. Domain expertise is required to classify these practically.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 mapping countries to their respective continents, we observed macro-climates. As expected, Africa and South America showed the highest baselines.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correlation analysis uncovered associations between wind speed and air quality. Lower wind speeds correlate with higher pollutant levels in this dataset.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 mapping latitude and longitude against temperature, we vividly visualize the global temperature gradient, reflecting real-world geographic patterns.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summarize our findings: Machine learning achieves high accuracy on test data. The models heavily rely on feels_like_celsius, statistical isolation can flag data anomalies, and air quality negatively correlates with wind speed.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this project successfully processed over 148,000 records to build an XGBoost forecasting baseline. These data-driven insights offer a foundational analytical framework.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
            <a:ext cx="7772400" cy="1419921"/>
          </a:xfrm>
        </p:spPr>
        <p:txBody>
          <a:bodyPr/>
          <a:lstStyle/>
          <a:p>
            <a:pPr>
              <a:defRPr sz="4400" b="1">
                <a:solidFill>
                  <a:srgbClr val="003366"/>
                </a:solidFill>
                <a:latin typeface="Arial"/>
              </a:defRPr>
            </a:pPr>
            <a:r>
              <a:rPr dirty="0"/>
              <a:t>Weather Trend Forecasting</a:t>
            </a:r>
          </a:p>
        </p:txBody>
      </p:sp>
      <p:sp>
        <p:nvSpPr>
          <p:cNvPr id="3" name="Subtitle 2"/>
          <p:cNvSpPr>
            <a:spLocks noGrp="1"/>
          </p:cNvSpPr>
          <p:nvPr>
            <p:ph type="subTitle" idx="1"/>
          </p:nvPr>
        </p:nvSpPr>
        <p:spPr>
          <a:xfrm>
            <a:off x="1371600" y="1025913"/>
            <a:ext cx="6400800" cy="3386696"/>
          </a:xfrm>
        </p:spPr>
        <p:txBody>
          <a:bodyPr>
            <a:normAutofit fontScale="92500" lnSpcReduction="20000"/>
          </a:bodyPr>
          <a:lstStyle/>
          <a:p>
            <a:pPr>
              <a:defRPr sz="2000">
                <a:solidFill>
                  <a:srgbClr val="000000"/>
                </a:solidFill>
              </a:defRPr>
            </a:pPr>
            <a:r>
              <a:rPr dirty="0"/>
              <a:t>PM Accelerator Tech Assessment</a:t>
            </a:r>
          </a:p>
          <a:p>
            <a:endParaRPr dirty="0"/>
          </a:p>
          <a:p>
            <a:r>
              <a:rPr dirty="0"/>
              <a:t>Mission: To help professionals identify their value, stand out, and advance their careers to land dream Product Management jobs.</a:t>
            </a:r>
          </a:p>
          <a:p>
            <a:endParaRPr dirty="0"/>
          </a:p>
          <a:p>
            <a:r>
              <a:rPr dirty="0"/>
              <a:t>Author: </a:t>
            </a:r>
            <a:r>
              <a:rPr lang="en-US" dirty="0"/>
              <a:t>Ayush Kumar</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Executive Summary</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2</a:t>
            </a:r>
          </a:p>
        </p:txBody>
      </p:sp>
      <p:sp>
        <p:nvSpPr>
          <p:cNvPr id="5" name="TextBox 4"/>
          <p:cNvSpPr txBox="1"/>
          <p:nvPr/>
        </p:nvSpPr>
        <p:spPr>
          <a:xfrm>
            <a:off x="457200" y="1463040"/>
            <a:ext cx="8229600" cy="4572000"/>
          </a:xfrm>
          <a:prstGeom prst="rect">
            <a:avLst/>
          </a:prstGeom>
          <a:noFill/>
        </p:spPr>
        <p:txBody>
          <a:bodyPr wrap="square">
            <a:spAutoFit/>
          </a:bodyPr>
          <a:lstStyle/>
          <a:p>
            <a:pPr>
              <a:spcBef>
                <a:spcPts val="1400"/>
              </a:spcBef>
            </a:pPr>
            <a:r>
              <a:rPr sz="1800">
                <a:solidFill>
                  <a:srgbClr val="000000"/>
                </a:solidFill>
                <a:latin typeface="Arial"/>
              </a:rPr>
              <a:t>•  Built: End-to-end ML pipeline forecasting global temperatures.</a:t>
            </a:r>
          </a:p>
          <a:p>
            <a:pPr>
              <a:spcBef>
                <a:spcPts val="1400"/>
              </a:spcBef>
            </a:pPr>
            <a:r>
              <a:rPr sz="1800">
                <a:solidFill>
                  <a:srgbClr val="000000"/>
                </a:solidFill>
                <a:latin typeface="Arial"/>
              </a:rPr>
              <a:t>•  Goal: Extract predictive insights from weather datasets.</a:t>
            </a:r>
          </a:p>
          <a:p>
            <a:pPr>
              <a:spcBef>
                <a:spcPts val="1400"/>
              </a:spcBef>
            </a:pPr>
            <a:r>
              <a:rPr sz="1800">
                <a:solidFill>
                  <a:srgbClr val="000000"/>
                </a:solidFill>
                <a:latin typeface="Arial"/>
              </a:rPr>
              <a:t>•  Model: XGBoost and Random Forest achieved high R² accuracy.</a:t>
            </a:r>
          </a:p>
          <a:p>
            <a:pPr>
              <a:spcBef>
                <a:spcPts val="1400"/>
              </a:spcBef>
            </a:pPr>
            <a:r>
              <a:rPr sz="1800">
                <a:solidFill>
                  <a:srgbClr val="000000"/>
                </a:solidFill>
                <a:latin typeface="Arial"/>
              </a:rPr>
              <a:t>•  Advanced Analytics: Implemented spatial mapping, anomaly detection, and environmental correlations.</a:t>
            </a:r>
          </a:p>
          <a:p>
            <a:pPr>
              <a:spcBef>
                <a:spcPts val="1400"/>
              </a:spcBef>
            </a:pPr>
            <a:r>
              <a:rPr sz="1800">
                <a:solidFill>
                  <a:srgbClr val="000000"/>
                </a:solidFill>
                <a:latin typeface="Arial"/>
              </a:rPr>
              <a:t>•  Outcome: Models achieved strong test-set metrics indicating high correlation with historical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Dataset Overview: Global Weather Repository</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3</a:t>
            </a:r>
          </a:p>
        </p:txBody>
      </p:sp>
      <p:sp>
        <p:nvSpPr>
          <p:cNvPr id="5" name="TextBox 4"/>
          <p:cNvSpPr txBox="1"/>
          <p:nvPr/>
        </p:nvSpPr>
        <p:spPr>
          <a:xfrm>
            <a:off x="457200" y="1463040"/>
            <a:ext cx="8229600" cy="4572000"/>
          </a:xfrm>
          <a:prstGeom prst="rect">
            <a:avLst/>
          </a:prstGeom>
          <a:noFill/>
        </p:spPr>
        <p:txBody>
          <a:bodyPr wrap="square">
            <a:spAutoFit/>
          </a:bodyPr>
          <a:lstStyle/>
          <a:p>
            <a:pPr>
              <a:spcBef>
                <a:spcPts val="1400"/>
              </a:spcBef>
            </a:pPr>
            <a:r>
              <a:rPr sz="1800">
                <a:solidFill>
                  <a:srgbClr val="000000"/>
                </a:solidFill>
                <a:latin typeface="Arial"/>
              </a:rPr>
              <a:t>•  Dataset Source: Global Weather Repository on Kaggle.</a:t>
            </a:r>
          </a:p>
          <a:p>
            <a:pPr>
              <a:spcBef>
                <a:spcPts val="1400"/>
              </a:spcBef>
            </a:pPr>
            <a:r>
              <a:rPr sz="1800">
                <a:solidFill>
                  <a:srgbClr val="000000"/>
                </a:solidFill>
                <a:latin typeface="Arial"/>
              </a:rPr>
              <a:t>•  Volume: 148,515 individual daily weather records.</a:t>
            </a:r>
          </a:p>
          <a:p>
            <a:pPr>
              <a:spcBef>
                <a:spcPts val="1400"/>
              </a:spcBef>
            </a:pPr>
            <a:r>
              <a:rPr sz="1800">
                <a:solidFill>
                  <a:srgbClr val="000000"/>
                </a:solidFill>
                <a:latin typeface="Arial"/>
              </a:rPr>
              <a:t>•  Dimensions: Over 40 distinct features describing conditions globally.</a:t>
            </a:r>
          </a:p>
          <a:p>
            <a:pPr>
              <a:spcBef>
                <a:spcPts val="1400"/>
              </a:spcBef>
            </a:pPr>
            <a:r>
              <a:rPr sz="1800">
                <a:solidFill>
                  <a:srgbClr val="000000"/>
                </a:solidFill>
                <a:latin typeface="Arial"/>
              </a:rPr>
              <a:t>•  Key Weather Variables: Temperature (°C), Precipitation (mm), Humidity, Wind (kph), Pressure (mb).</a:t>
            </a:r>
          </a:p>
          <a:p>
            <a:pPr>
              <a:spcBef>
                <a:spcPts val="1400"/>
              </a:spcBef>
            </a:pPr>
            <a:r>
              <a:rPr sz="1800">
                <a:solidFill>
                  <a:srgbClr val="000000"/>
                </a:solidFill>
                <a:latin typeface="Arial"/>
              </a:rPr>
              <a:t>•  Key Air Quality Variables: PM2.5, PM10, Ozone, Carbon Monoxide, Nitrogen Dioxide.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Data Cleaning &amp; Preprocessing Pipeline</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4</a:t>
            </a:r>
          </a:p>
        </p:txBody>
      </p:sp>
      <p:sp>
        <p:nvSpPr>
          <p:cNvPr id="5" name="TextBox 4"/>
          <p:cNvSpPr txBox="1"/>
          <p:nvPr/>
        </p:nvSpPr>
        <p:spPr>
          <a:xfrm>
            <a:off x="457200" y="1463040"/>
            <a:ext cx="8229600" cy="4572000"/>
          </a:xfrm>
          <a:prstGeom prst="rect">
            <a:avLst/>
          </a:prstGeom>
          <a:noFill/>
        </p:spPr>
        <p:txBody>
          <a:bodyPr wrap="square">
            <a:spAutoFit/>
          </a:bodyPr>
          <a:lstStyle/>
          <a:p>
            <a:pPr>
              <a:spcBef>
                <a:spcPts val="1400"/>
              </a:spcBef>
            </a:pPr>
            <a:r>
              <a:rPr sz="1800">
                <a:solidFill>
                  <a:srgbClr val="000000"/>
                </a:solidFill>
                <a:latin typeface="Arial"/>
              </a:rPr>
              <a:t>•  Imputation: Missing numerical values handled via Median; categoricals via Mode.</a:t>
            </a:r>
          </a:p>
          <a:p>
            <a:pPr>
              <a:spcBef>
                <a:spcPts val="1400"/>
              </a:spcBef>
            </a:pPr>
            <a:r>
              <a:rPr sz="1800">
                <a:solidFill>
                  <a:srgbClr val="000000"/>
                </a:solidFill>
                <a:latin typeface="Arial"/>
              </a:rPr>
              <a:t>•  Feature Engineering: Extracted year, month, day, and day-of-week from datetime.</a:t>
            </a:r>
          </a:p>
          <a:p>
            <a:pPr>
              <a:spcBef>
                <a:spcPts val="1400"/>
              </a:spcBef>
            </a:pPr>
            <a:r>
              <a:rPr sz="1800">
                <a:solidFill>
                  <a:srgbClr val="000000"/>
                </a:solidFill>
                <a:latin typeface="Arial"/>
              </a:rPr>
              <a:t>•  Outlier Treatment: Applied strict IQR capping (1.5x) to extreme precipitation and temperature anomalies.</a:t>
            </a:r>
          </a:p>
          <a:p>
            <a:pPr>
              <a:spcBef>
                <a:spcPts val="1400"/>
              </a:spcBef>
            </a:pPr>
            <a:r>
              <a:rPr sz="1800">
                <a:solidFill>
                  <a:srgbClr val="000000"/>
                </a:solidFill>
                <a:latin typeface="Arial"/>
              </a:rPr>
              <a:t>•  Normalization: Features scaled using StandardScaler to optimize gradient-based algorithms.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Exploratory Data Analysis: Temp &amp; Precip</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5</a:t>
            </a:r>
          </a:p>
        </p:txBody>
      </p:sp>
      <p:pic>
        <p:nvPicPr>
          <p:cNvPr id="5" name="Picture 4" descr="temp_precip_dist.png"/>
          <p:cNvPicPr>
            <a:picLocks noChangeAspect="1"/>
          </p:cNvPicPr>
          <p:nvPr/>
        </p:nvPicPr>
        <p:blipFill>
          <a:blip r:embed="rId3"/>
          <a:stretch>
            <a:fillRect/>
          </a:stretch>
        </p:blipFill>
        <p:spPr>
          <a:xfrm>
            <a:off x="457200" y="1645920"/>
            <a:ext cx="5029200" cy="1676400"/>
          </a:xfrm>
          <a:prstGeom prst="rect">
            <a:avLst/>
          </a:prstGeom>
        </p:spPr>
      </p:pic>
      <p:sp>
        <p:nvSpPr>
          <p:cNvPr id="6" name="TextBox 5"/>
          <p:cNvSpPr txBox="1"/>
          <p:nvPr/>
        </p:nvSpPr>
        <p:spPr>
          <a:xfrm>
            <a:off x="5669280" y="1645920"/>
            <a:ext cx="3200400" cy="4572000"/>
          </a:xfrm>
          <a:prstGeom prst="rect">
            <a:avLst/>
          </a:prstGeom>
          <a:noFill/>
        </p:spPr>
        <p:txBody>
          <a:bodyPr wrap="square">
            <a:spAutoFit/>
          </a:bodyPr>
          <a:lstStyle/>
          <a:p>
            <a:pPr>
              <a:defRPr sz="1600" b="1">
                <a:solidFill>
                  <a:srgbClr val="003366"/>
                </a:solidFill>
              </a:defRPr>
            </a:pPr>
            <a:r>
              <a:t>Observation:</a:t>
            </a:r>
          </a:p>
          <a:p>
            <a:pPr>
              <a:spcBef>
                <a:spcPts val="200"/>
              </a:spcBef>
              <a:defRPr sz="1400"/>
            </a:pPr>
            <a:r>
              <a:t>Temperatures roughly follow a normal distribution globally; precipitation is right-skewed.</a:t>
            </a:r>
          </a:p>
          <a:p>
            <a:pPr>
              <a:spcBef>
                <a:spcPts val="1200"/>
              </a:spcBef>
              <a:defRPr sz="1600" b="1">
                <a:solidFill>
                  <a:srgbClr val="003366"/>
                </a:solidFill>
              </a:defRPr>
            </a:pPr>
            <a:r>
              <a:t>Insight:</a:t>
            </a:r>
          </a:p>
          <a:p>
            <a:pPr>
              <a:spcBef>
                <a:spcPts val="200"/>
              </a:spcBef>
              <a:defRPr sz="1400"/>
            </a:pPr>
            <a:r>
              <a:t>The normal distribution of temperature makes it a suitable continuous target variable.</a:t>
            </a:r>
          </a:p>
          <a:p>
            <a:pPr>
              <a:spcBef>
                <a:spcPts val="1200"/>
              </a:spcBef>
              <a:defRPr sz="1600" b="1">
                <a:solidFill>
                  <a:srgbClr val="003366"/>
                </a:solidFill>
              </a:defRPr>
            </a:pPr>
            <a:r>
              <a:t>Business Relevance:</a:t>
            </a:r>
          </a:p>
          <a:p>
            <a:pPr>
              <a:spcBef>
                <a:spcPts val="200"/>
              </a:spcBef>
              <a:defRPr sz="1400"/>
            </a:pPr>
            <a:r>
              <a:t>Limitation: This does not imply global temperatures are perfectly normally distributed universally.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Machine Learning Forecasting Architecture</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6</a:t>
            </a:r>
          </a:p>
        </p:txBody>
      </p:sp>
      <p:sp>
        <p:nvSpPr>
          <p:cNvPr id="5" name="TextBox 4"/>
          <p:cNvSpPr txBox="1"/>
          <p:nvPr/>
        </p:nvSpPr>
        <p:spPr>
          <a:xfrm>
            <a:off x="457200" y="1463040"/>
            <a:ext cx="8229600" cy="4572000"/>
          </a:xfrm>
          <a:prstGeom prst="rect">
            <a:avLst/>
          </a:prstGeom>
          <a:noFill/>
        </p:spPr>
        <p:txBody>
          <a:bodyPr wrap="square">
            <a:spAutoFit/>
          </a:bodyPr>
          <a:lstStyle/>
          <a:p>
            <a:pPr>
              <a:spcBef>
                <a:spcPts val="1400"/>
              </a:spcBef>
            </a:pPr>
            <a:r>
              <a:rPr sz="1800">
                <a:solidFill>
                  <a:srgbClr val="000000"/>
                </a:solidFill>
                <a:latin typeface="Arial"/>
              </a:rPr>
              <a:t>•  Linear Regression: Fast baseline, but limited by non-linear weather interactions.</a:t>
            </a:r>
          </a:p>
          <a:p>
            <a:pPr>
              <a:spcBef>
                <a:spcPts val="1400"/>
              </a:spcBef>
            </a:pPr>
            <a:r>
              <a:rPr sz="1800">
                <a:solidFill>
                  <a:srgbClr val="000000"/>
                </a:solidFill>
                <a:latin typeface="Arial"/>
              </a:rPr>
              <a:t>•  Random Forest: Tree ensemble, highly robust to atmospheric noise and complex data.</a:t>
            </a:r>
          </a:p>
          <a:p>
            <a:pPr>
              <a:spcBef>
                <a:spcPts val="1400"/>
              </a:spcBef>
            </a:pPr>
            <a:r>
              <a:rPr sz="1800">
                <a:solidFill>
                  <a:srgbClr val="000000"/>
                </a:solidFill>
                <a:latin typeface="Arial"/>
              </a:rPr>
              <a:t>•  XGBoost: Gradient boosting algorithm, minimizes sequential residual errors.</a:t>
            </a:r>
          </a:p>
          <a:p>
            <a:pPr>
              <a:spcBef>
                <a:spcPts val="1400"/>
              </a:spcBef>
            </a:pPr>
            <a:r>
              <a:rPr sz="1800">
                <a:solidFill>
                  <a:srgbClr val="000000"/>
                </a:solidFill>
                <a:latin typeface="Arial"/>
              </a:rPr>
              <a:t>•  Ensemble (VotingRegressor): Averages predictions to reduce individual model bias.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Forecasting Model Evaluation Metrics</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7</a:t>
            </a:r>
          </a:p>
        </p:txBody>
      </p:sp>
      <p:graphicFrame>
        <p:nvGraphicFramePr>
          <p:cNvPr id="5" name="Table 4"/>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457200">
                <a:tc>
                  <a:txBody>
                    <a:bodyPr/>
                    <a:lstStyle/>
                    <a:p>
                      <a:r>
                        <a:rPr sz="1600" b="1">
                          <a:solidFill>
                            <a:srgbClr val="FFFFFF"/>
                          </a:solidFill>
                        </a:rPr>
                        <a:t>Model</a:t>
                      </a:r>
                    </a:p>
                  </a:txBody>
                  <a:tcPr>
                    <a:solidFill>
                      <a:srgbClr val="003366"/>
                    </a:solidFill>
                  </a:tcPr>
                </a:tc>
                <a:tc>
                  <a:txBody>
                    <a:bodyPr/>
                    <a:lstStyle/>
                    <a:p>
                      <a:r>
                        <a:rPr sz="1600" b="1">
                          <a:solidFill>
                            <a:srgbClr val="FFFFFF"/>
                          </a:solidFill>
                        </a:rPr>
                        <a:t>RMSE</a:t>
                      </a:r>
                    </a:p>
                  </a:txBody>
                  <a:tcPr>
                    <a:solidFill>
                      <a:srgbClr val="003366"/>
                    </a:solidFill>
                  </a:tcPr>
                </a:tc>
                <a:tc>
                  <a:txBody>
                    <a:bodyPr/>
                    <a:lstStyle/>
                    <a:p>
                      <a:r>
                        <a:rPr sz="1600" b="1">
                          <a:solidFill>
                            <a:srgbClr val="FFFFFF"/>
                          </a:solidFill>
                        </a:rPr>
                        <a:t>MAE</a:t>
                      </a:r>
                    </a:p>
                  </a:txBody>
                  <a:tcPr>
                    <a:solidFill>
                      <a:srgbClr val="003366"/>
                    </a:solidFill>
                  </a:tcPr>
                </a:tc>
                <a:tc>
                  <a:txBody>
                    <a:bodyPr/>
                    <a:lstStyle/>
                    <a:p>
                      <a:r>
                        <a:rPr sz="1600" b="1">
                          <a:solidFill>
                            <a:srgbClr val="FFFFFF"/>
                          </a:solidFill>
                        </a:rPr>
                        <a:t>R2</a:t>
                      </a:r>
                    </a:p>
                  </a:txBody>
                  <a:tcPr>
                    <a:solidFill>
                      <a:srgbClr val="003366"/>
                    </a:solidFill>
                  </a:tcPr>
                </a:tc>
                <a:extLst>
                  <a:ext uri="{0D108BD9-81ED-4DB2-BD59-A6C34878D82A}">
                    <a16:rowId xmlns:a16="http://schemas.microsoft.com/office/drawing/2014/main" val="10000"/>
                  </a:ext>
                </a:extLst>
              </a:tr>
              <a:tr h="457200">
                <a:tc>
                  <a:txBody>
                    <a:bodyPr/>
                    <a:lstStyle/>
                    <a:p>
                      <a:r>
                        <a:rPr sz="1600"/>
                        <a:t>Linear Regression</a:t>
                      </a:r>
                    </a:p>
                  </a:txBody>
                  <a:tcPr/>
                </a:tc>
                <a:tc>
                  <a:txBody>
                    <a:bodyPr/>
                    <a:lstStyle/>
                    <a:p>
                      <a:r>
                        <a:rPr sz="1600"/>
                        <a:t>2.081</a:t>
                      </a:r>
                    </a:p>
                  </a:txBody>
                  <a:tcPr/>
                </a:tc>
                <a:tc>
                  <a:txBody>
                    <a:bodyPr/>
                    <a:lstStyle/>
                    <a:p>
                      <a:r>
                        <a:rPr sz="1600"/>
                        <a:t>1.292</a:t>
                      </a:r>
                    </a:p>
                  </a:txBody>
                  <a:tcPr/>
                </a:tc>
                <a:tc>
                  <a:txBody>
                    <a:bodyPr/>
                    <a:lstStyle/>
                    <a:p>
                      <a:r>
                        <a:rPr sz="1600"/>
                        <a:t>0.952</a:t>
                      </a:r>
                    </a:p>
                  </a:txBody>
                  <a:tcPr/>
                </a:tc>
                <a:extLst>
                  <a:ext uri="{0D108BD9-81ED-4DB2-BD59-A6C34878D82A}">
                    <a16:rowId xmlns:a16="http://schemas.microsoft.com/office/drawing/2014/main" val="10001"/>
                  </a:ext>
                </a:extLst>
              </a:tr>
              <a:tr h="457200">
                <a:tc>
                  <a:txBody>
                    <a:bodyPr/>
                    <a:lstStyle/>
                    <a:p>
                      <a:r>
                        <a:rPr sz="1600"/>
                        <a:t>Random Forest</a:t>
                      </a:r>
                    </a:p>
                  </a:txBody>
                  <a:tcPr/>
                </a:tc>
                <a:tc>
                  <a:txBody>
                    <a:bodyPr/>
                    <a:lstStyle/>
                    <a:p>
                      <a:r>
                        <a:rPr sz="1600"/>
                        <a:t>1.179</a:t>
                      </a:r>
                    </a:p>
                  </a:txBody>
                  <a:tcPr/>
                </a:tc>
                <a:tc>
                  <a:txBody>
                    <a:bodyPr/>
                    <a:lstStyle/>
                    <a:p>
                      <a:r>
                        <a:rPr sz="1600"/>
                        <a:t>0.404</a:t>
                      </a:r>
                    </a:p>
                  </a:txBody>
                  <a:tcPr/>
                </a:tc>
                <a:tc>
                  <a:txBody>
                    <a:bodyPr/>
                    <a:lstStyle/>
                    <a:p>
                      <a:r>
                        <a:rPr sz="1600"/>
                        <a:t>0.984</a:t>
                      </a:r>
                    </a:p>
                  </a:txBody>
                  <a:tcPr/>
                </a:tc>
                <a:extLst>
                  <a:ext uri="{0D108BD9-81ED-4DB2-BD59-A6C34878D82A}">
                    <a16:rowId xmlns:a16="http://schemas.microsoft.com/office/drawing/2014/main" val="10002"/>
                  </a:ext>
                </a:extLst>
              </a:tr>
              <a:tr h="457200">
                <a:tc>
                  <a:txBody>
                    <a:bodyPr/>
                    <a:lstStyle/>
                    <a:p>
                      <a:r>
                        <a:rPr sz="1600" b="1">
                          <a:solidFill>
                            <a:srgbClr val="003366"/>
                          </a:solidFill>
                        </a:rPr>
                        <a:t>XGBoost</a:t>
                      </a:r>
                    </a:p>
                  </a:txBody>
                  <a:tcPr>
                    <a:solidFill>
                      <a:srgbClr val="F0F0F0"/>
                    </a:solidFill>
                  </a:tcPr>
                </a:tc>
                <a:tc>
                  <a:txBody>
                    <a:bodyPr/>
                    <a:lstStyle/>
                    <a:p>
                      <a:r>
                        <a:rPr sz="1600" b="1">
                          <a:solidFill>
                            <a:srgbClr val="003366"/>
                          </a:solidFill>
                        </a:rPr>
                        <a:t>1.178</a:t>
                      </a:r>
                    </a:p>
                  </a:txBody>
                  <a:tcPr>
                    <a:solidFill>
                      <a:srgbClr val="F0F0F0"/>
                    </a:solidFill>
                  </a:tcPr>
                </a:tc>
                <a:tc>
                  <a:txBody>
                    <a:bodyPr/>
                    <a:lstStyle/>
                    <a:p>
                      <a:r>
                        <a:rPr sz="1600" b="1">
                          <a:solidFill>
                            <a:srgbClr val="003366"/>
                          </a:solidFill>
                        </a:rPr>
                        <a:t>0.433</a:t>
                      </a:r>
                    </a:p>
                  </a:txBody>
                  <a:tcPr>
                    <a:solidFill>
                      <a:srgbClr val="F0F0F0"/>
                    </a:solidFill>
                  </a:tcPr>
                </a:tc>
                <a:tc>
                  <a:txBody>
                    <a:bodyPr/>
                    <a:lstStyle/>
                    <a:p>
                      <a:r>
                        <a:rPr sz="1600" b="1">
                          <a:solidFill>
                            <a:srgbClr val="003366"/>
                          </a:solidFill>
                        </a:rPr>
                        <a:t>0.985</a:t>
                      </a:r>
                    </a:p>
                  </a:txBody>
                  <a:tcPr>
                    <a:solidFill>
                      <a:srgbClr val="F0F0F0"/>
                    </a:solidFill>
                  </a:tcPr>
                </a:tc>
                <a:extLst>
                  <a:ext uri="{0D108BD9-81ED-4DB2-BD59-A6C34878D82A}">
                    <a16:rowId xmlns:a16="http://schemas.microsoft.com/office/drawing/2014/main" val="10003"/>
                  </a:ext>
                </a:extLst>
              </a:tr>
              <a:tr h="457200">
                <a:tc>
                  <a:txBody>
                    <a:bodyPr/>
                    <a:lstStyle/>
                    <a:p>
                      <a:r>
                        <a:rPr sz="1600"/>
                        <a:t>Ensemble</a:t>
                      </a:r>
                    </a:p>
                  </a:txBody>
                  <a:tcPr/>
                </a:tc>
                <a:tc>
                  <a:txBody>
                    <a:bodyPr/>
                    <a:lstStyle/>
                    <a:p>
                      <a:r>
                        <a:rPr sz="1600"/>
                        <a:t>1.290</a:t>
                      </a:r>
                    </a:p>
                  </a:txBody>
                  <a:tcPr/>
                </a:tc>
                <a:tc>
                  <a:txBody>
                    <a:bodyPr/>
                    <a:lstStyle/>
                    <a:p>
                      <a:r>
                        <a:rPr sz="1600"/>
                        <a:t>0.649</a:t>
                      </a:r>
                    </a:p>
                  </a:txBody>
                  <a:tcPr/>
                </a:tc>
                <a:tc>
                  <a:txBody>
                    <a:bodyPr/>
                    <a:lstStyle/>
                    <a:p>
                      <a:r>
                        <a:rPr sz="1600"/>
                        <a:t>0.981</a:t>
                      </a:r>
                    </a:p>
                  </a:txBody>
                  <a:tcPr/>
                </a:tc>
                <a:extLst>
                  <a:ext uri="{0D108BD9-81ED-4DB2-BD59-A6C34878D82A}">
                    <a16:rowId xmlns:a16="http://schemas.microsoft.com/office/drawing/2014/main" val="10004"/>
                  </a:ext>
                </a:extLst>
              </a:tr>
            </a:tbl>
          </a:graphicData>
        </a:graphic>
      </p:graphicFrame>
      <p:sp>
        <p:nvSpPr>
          <p:cNvPr id="6" name="TextBox 5"/>
          <p:cNvSpPr txBox="1"/>
          <p:nvPr/>
        </p:nvSpPr>
        <p:spPr>
          <a:xfrm>
            <a:off x="457200" y="3840480"/>
            <a:ext cx="8229600" cy="1371600"/>
          </a:xfrm>
          <a:prstGeom prst="rect">
            <a:avLst/>
          </a:prstGeom>
          <a:noFill/>
        </p:spPr>
        <p:txBody>
          <a:bodyPr wrap="square">
            <a:spAutoFit/>
          </a:bodyPr>
          <a:lstStyle/>
          <a:p>
            <a:pPr>
              <a:defRPr sz="1600" b="1"/>
            </a:pPr>
            <a:r>
              <a:rPr dirty="0"/>
              <a:t>Metric Interpretations (</a:t>
            </a:r>
            <a:r>
              <a:rPr dirty="0" err="1"/>
              <a:t>XGBoost</a:t>
            </a:r>
            <a:r>
              <a:rPr dirty="0"/>
              <a:t> performed best):</a:t>
            </a:r>
          </a:p>
          <a:p>
            <a:pPr>
              <a:spcBef>
                <a:spcPts val="600"/>
              </a:spcBef>
              <a:defRPr sz="1400"/>
            </a:pPr>
            <a:r>
              <a:rPr dirty="0"/>
              <a:t>• MAE: Average absolute difference between predicted and actual temperatures.</a:t>
            </a:r>
          </a:p>
          <a:p>
            <a:pPr>
              <a:spcBef>
                <a:spcPts val="600"/>
              </a:spcBef>
              <a:defRPr sz="1400"/>
            </a:pPr>
            <a:r>
              <a:rPr dirty="0"/>
              <a:t>• RMSE: Penalizes larger prediction errors more heavily than MAE.</a:t>
            </a:r>
          </a:p>
          <a:p>
            <a:pPr>
              <a:spcBef>
                <a:spcPts val="600"/>
              </a:spcBef>
              <a:defRPr sz="1400"/>
            </a:pPr>
            <a:r>
              <a:rPr dirty="0"/>
              <a:t>• R²: Proportion of temperature variance explained by the model (&gt;0.98 is exceptional).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Forecast Accuracy: Actual vs Predicted</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8</a:t>
            </a:r>
          </a:p>
        </p:txBody>
      </p:sp>
      <p:pic>
        <p:nvPicPr>
          <p:cNvPr id="5" name="Picture 4" descr="actual_vs_predicted_forecast.png"/>
          <p:cNvPicPr>
            <a:picLocks noChangeAspect="1"/>
          </p:cNvPicPr>
          <p:nvPr/>
        </p:nvPicPr>
        <p:blipFill>
          <a:blip r:embed="rId3"/>
          <a:stretch>
            <a:fillRect/>
          </a:stretch>
        </p:blipFill>
        <p:spPr>
          <a:xfrm>
            <a:off x="457200" y="1645920"/>
            <a:ext cx="5029200" cy="2011680"/>
          </a:xfrm>
          <a:prstGeom prst="rect">
            <a:avLst/>
          </a:prstGeom>
        </p:spPr>
      </p:pic>
      <p:sp>
        <p:nvSpPr>
          <p:cNvPr id="6" name="TextBox 5"/>
          <p:cNvSpPr txBox="1"/>
          <p:nvPr/>
        </p:nvSpPr>
        <p:spPr>
          <a:xfrm>
            <a:off x="5669280" y="1645920"/>
            <a:ext cx="3200400" cy="4572000"/>
          </a:xfrm>
          <a:prstGeom prst="rect">
            <a:avLst/>
          </a:prstGeom>
          <a:noFill/>
        </p:spPr>
        <p:txBody>
          <a:bodyPr wrap="square">
            <a:spAutoFit/>
          </a:bodyPr>
          <a:lstStyle/>
          <a:p>
            <a:pPr>
              <a:defRPr sz="1600" b="1">
                <a:solidFill>
                  <a:srgbClr val="003366"/>
                </a:solidFill>
              </a:defRPr>
            </a:pPr>
            <a:r>
              <a:t>Observation:</a:t>
            </a:r>
          </a:p>
          <a:p>
            <a:pPr>
              <a:spcBef>
                <a:spcPts val="200"/>
              </a:spcBef>
              <a:defRPr sz="1400"/>
            </a:pPr>
            <a:r>
              <a:t>The ensemble predictions track the actual temperature closely on the test set.</a:t>
            </a:r>
          </a:p>
          <a:p>
            <a:pPr>
              <a:spcBef>
                <a:spcPts val="1200"/>
              </a:spcBef>
              <a:defRPr sz="1600" b="1">
                <a:solidFill>
                  <a:srgbClr val="003366"/>
                </a:solidFill>
              </a:defRPr>
            </a:pPr>
            <a:r>
              <a:t>Insight:</a:t>
            </a:r>
          </a:p>
          <a:p>
            <a:pPr>
              <a:spcBef>
                <a:spcPts val="200"/>
              </a:spcBef>
              <a:defRPr sz="1400"/>
            </a:pPr>
            <a:r>
              <a:t>Deviations occur primarily at extreme peaks and valleys.</a:t>
            </a:r>
          </a:p>
          <a:p>
            <a:pPr>
              <a:spcBef>
                <a:spcPts val="1200"/>
              </a:spcBef>
              <a:defRPr sz="1600" b="1">
                <a:solidFill>
                  <a:srgbClr val="003366"/>
                </a:solidFill>
              </a:defRPr>
            </a:pPr>
            <a:r>
              <a:t>Business Relevance:</a:t>
            </a:r>
          </a:p>
          <a:p>
            <a:pPr>
              <a:spcBef>
                <a:spcPts val="200"/>
              </a:spcBef>
              <a:defRPr sz="1400"/>
            </a:pPr>
            <a:r>
              <a:t>Limitation: High R² does not guarantee performance out-of-distribution without continuous oversight.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Feature Importance Drivers (XGBoost)</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9</a:t>
            </a:r>
          </a:p>
        </p:txBody>
      </p:sp>
      <p:pic>
        <p:nvPicPr>
          <p:cNvPr id="5" name="Picture 4" descr="feature_importance.png"/>
          <p:cNvPicPr>
            <a:picLocks noChangeAspect="1"/>
          </p:cNvPicPr>
          <p:nvPr/>
        </p:nvPicPr>
        <p:blipFill>
          <a:blip r:embed="rId3"/>
          <a:stretch>
            <a:fillRect/>
          </a:stretch>
        </p:blipFill>
        <p:spPr>
          <a:xfrm>
            <a:off x="457200" y="1645920"/>
            <a:ext cx="5029200" cy="3017520"/>
          </a:xfrm>
          <a:prstGeom prst="rect">
            <a:avLst/>
          </a:prstGeom>
        </p:spPr>
      </p:pic>
      <p:sp>
        <p:nvSpPr>
          <p:cNvPr id="6" name="TextBox 5"/>
          <p:cNvSpPr txBox="1"/>
          <p:nvPr/>
        </p:nvSpPr>
        <p:spPr>
          <a:xfrm>
            <a:off x="5669280" y="1645920"/>
            <a:ext cx="3200400" cy="4572000"/>
          </a:xfrm>
          <a:prstGeom prst="rect">
            <a:avLst/>
          </a:prstGeom>
          <a:noFill/>
        </p:spPr>
        <p:txBody>
          <a:bodyPr wrap="square">
            <a:spAutoFit/>
          </a:bodyPr>
          <a:lstStyle/>
          <a:p>
            <a:pPr>
              <a:defRPr sz="1600" b="1">
                <a:solidFill>
                  <a:srgbClr val="003366"/>
                </a:solidFill>
              </a:defRPr>
            </a:pPr>
            <a:r>
              <a:t>Observation:</a:t>
            </a:r>
          </a:p>
          <a:p>
            <a:pPr>
              <a:spcBef>
                <a:spcPts val="200"/>
              </a:spcBef>
              <a:defRPr sz="1400"/>
            </a:pPr>
            <a:r>
              <a:t>The XGBoost model assigns &gt;90% importance to feels_like_celsius.</a:t>
            </a:r>
          </a:p>
          <a:p>
            <a:pPr>
              <a:spcBef>
                <a:spcPts val="1200"/>
              </a:spcBef>
              <a:defRPr sz="1600" b="1">
                <a:solidFill>
                  <a:srgbClr val="003366"/>
                </a:solidFill>
              </a:defRPr>
            </a:pPr>
            <a:r>
              <a:t>Insight:</a:t>
            </a:r>
          </a:p>
          <a:p>
            <a:pPr>
              <a:spcBef>
                <a:spcPts val="200"/>
              </a:spcBef>
              <a:defRPr sz="1400"/>
            </a:pPr>
            <a:r>
              <a:t>The model relies overwhelmingly on feels_like_celsius as a proxy for the target variable.</a:t>
            </a:r>
          </a:p>
          <a:p>
            <a:pPr>
              <a:spcBef>
                <a:spcPts val="1200"/>
              </a:spcBef>
              <a:defRPr sz="1600" b="1">
                <a:solidFill>
                  <a:srgbClr val="003366"/>
                </a:solidFill>
              </a:defRPr>
            </a:pPr>
            <a:r>
              <a:t>Business Relevance:</a:t>
            </a:r>
          </a:p>
          <a:p>
            <a:pPr>
              <a:spcBef>
                <a:spcPts val="200"/>
              </a:spcBef>
              <a:defRPr sz="1400"/>
            </a:pPr>
            <a:r>
              <a:t>Limitation: The extreme dominance of feels_like_celsius limits interpretability of other features.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Extreme Weather Anomaly Detection</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10</a:t>
            </a:r>
          </a:p>
        </p:txBody>
      </p:sp>
      <p:pic>
        <p:nvPicPr>
          <p:cNvPr id="5" name="Picture 4" descr="anomaly_detection.png"/>
          <p:cNvPicPr>
            <a:picLocks noChangeAspect="1"/>
          </p:cNvPicPr>
          <p:nvPr/>
        </p:nvPicPr>
        <p:blipFill>
          <a:blip r:embed="rId3"/>
          <a:stretch>
            <a:fillRect/>
          </a:stretch>
        </p:blipFill>
        <p:spPr>
          <a:xfrm>
            <a:off x="457200" y="1645920"/>
            <a:ext cx="5029200" cy="3017520"/>
          </a:xfrm>
          <a:prstGeom prst="rect">
            <a:avLst/>
          </a:prstGeom>
        </p:spPr>
      </p:pic>
      <p:sp>
        <p:nvSpPr>
          <p:cNvPr id="6" name="TextBox 5"/>
          <p:cNvSpPr txBox="1"/>
          <p:nvPr/>
        </p:nvSpPr>
        <p:spPr>
          <a:xfrm>
            <a:off x="5669280" y="1645920"/>
            <a:ext cx="3200400" cy="4572000"/>
          </a:xfrm>
          <a:prstGeom prst="rect">
            <a:avLst/>
          </a:prstGeom>
          <a:noFill/>
        </p:spPr>
        <p:txBody>
          <a:bodyPr wrap="square">
            <a:spAutoFit/>
          </a:bodyPr>
          <a:lstStyle/>
          <a:p>
            <a:pPr>
              <a:defRPr sz="1600" b="1">
                <a:solidFill>
                  <a:srgbClr val="003366"/>
                </a:solidFill>
              </a:defRPr>
            </a:pPr>
            <a:r>
              <a:t>Observation:</a:t>
            </a:r>
          </a:p>
          <a:p>
            <a:pPr>
              <a:spcBef>
                <a:spcPts val="200"/>
              </a:spcBef>
              <a:defRPr sz="1400"/>
            </a:pPr>
            <a:r>
              <a:t>Isolation Forest isolated 1% of data as anomalies based on feature variance.</a:t>
            </a:r>
          </a:p>
          <a:p>
            <a:pPr>
              <a:spcBef>
                <a:spcPts val="1200"/>
              </a:spcBef>
              <a:defRPr sz="1600" b="1">
                <a:solidFill>
                  <a:srgbClr val="003366"/>
                </a:solidFill>
              </a:defRPr>
            </a:pPr>
            <a:r>
              <a:t>Insight:</a:t>
            </a:r>
          </a:p>
          <a:p>
            <a:pPr>
              <a:spcBef>
                <a:spcPts val="200"/>
              </a:spcBef>
              <a:defRPr sz="1400"/>
            </a:pPr>
            <a:r>
              <a:t>Identifies statistical outliers distinct from the majority of readings.</a:t>
            </a:r>
          </a:p>
          <a:p>
            <a:pPr>
              <a:spcBef>
                <a:spcPts val="1200"/>
              </a:spcBef>
              <a:defRPr sz="1600" b="1">
                <a:solidFill>
                  <a:srgbClr val="003366"/>
                </a:solidFill>
              </a:defRPr>
            </a:pPr>
            <a:r>
              <a:t>Business Relevance:</a:t>
            </a:r>
          </a:p>
          <a:p>
            <a:pPr>
              <a:spcBef>
                <a:spcPts val="200"/>
              </a:spcBef>
              <a:defRPr sz="1400"/>
            </a:pPr>
            <a:r>
              <a:t>Limitation: Represents statistical divergence, not necessarily physical severe weather events like cyclones.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Geographic Continent-Level Climate Analysis</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11</a:t>
            </a:r>
          </a:p>
        </p:txBody>
      </p:sp>
      <p:pic>
        <p:nvPicPr>
          <p:cNvPr id="5" name="Picture 4" descr="continent_climate.png"/>
          <p:cNvPicPr>
            <a:picLocks noChangeAspect="1"/>
          </p:cNvPicPr>
          <p:nvPr/>
        </p:nvPicPr>
        <p:blipFill>
          <a:blip r:embed="rId3"/>
          <a:stretch>
            <a:fillRect/>
          </a:stretch>
        </p:blipFill>
        <p:spPr>
          <a:xfrm>
            <a:off x="457200" y="1645920"/>
            <a:ext cx="5029200" cy="1397000"/>
          </a:xfrm>
          <a:prstGeom prst="rect">
            <a:avLst/>
          </a:prstGeom>
        </p:spPr>
      </p:pic>
      <p:sp>
        <p:nvSpPr>
          <p:cNvPr id="6" name="TextBox 5"/>
          <p:cNvSpPr txBox="1"/>
          <p:nvPr/>
        </p:nvSpPr>
        <p:spPr>
          <a:xfrm>
            <a:off x="5669280" y="1645920"/>
            <a:ext cx="3200400" cy="4572000"/>
          </a:xfrm>
          <a:prstGeom prst="rect">
            <a:avLst/>
          </a:prstGeom>
          <a:noFill/>
        </p:spPr>
        <p:txBody>
          <a:bodyPr wrap="square">
            <a:spAutoFit/>
          </a:bodyPr>
          <a:lstStyle/>
          <a:p>
            <a:pPr>
              <a:defRPr sz="1600" b="1">
                <a:solidFill>
                  <a:srgbClr val="003366"/>
                </a:solidFill>
              </a:defRPr>
            </a:pPr>
            <a:r>
              <a:t>Observation:</a:t>
            </a:r>
          </a:p>
          <a:p>
            <a:pPr>
              <a:spcBef>
                <a:spcPts val="200"/>
              </a:spcBef>
              <a:defRPr sz="1400"/>
            </a:pPr>
            <a:r>
              <a:t>Africa and South America display the highest average temperatures globally.</a:t>
            </a:r>
          </a:p>
          <a:p>
            <a:pPr>
              <a:spcBef>
                <a:spcPts val="1200"/>
              </a:spcBef>
              <a:defRPr sz="1600" b="1">
                <a:solidFill>
                  <a:srgbClr val="003366"/>
                </a:solidFill>
              </a:defRPr>
            </a:pPr>
            <a:r>
              <a:t>Insight:</a:t>
            </a:r>
          </a:p>
          <a:p>
            <a:pPr>
              <a:spcBef>
                <a:spcPts val="200"/>
              </a:spcBef>
              <a:defRPr sz="1400"/>
            </a:pPr>
            <a:r>
              <a:t>Continent-level aggregations reveal broad macro-climate differences.</a:t>
            </a:r>
          </a:p>
          <a:p>
            <a:pPr>
              <a:spcBef>
                <a:spcPts val="1200"/>
              </a:spcBef>
              <a:defRPr sz="1600" b="1">
                <a:solidFill>
                  <a:srgbClr val="003366"/>
                </a:solidFill>
              </a:defRPr>
            </a:pPr>
            <a:r>
              <a:t>Business Relevance:</a:t>
            </a:r>
          </a:p>
          <a:p>
            <a:pPr>
              <a:spcBef>
                <a:spcPts val="200"/>
              </a:spcBef>
              <a:defRPr sz="1400"/>
            </a:pPr>
            <a:r>
              <a:t>Limitation: Continental averages smooth out localized extremes, masking specific regional vulnerabilities.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Environmental Impact &amp; Air Quality</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12</a:t>
            </a:r>
          </a:p>
        </p:txBody>
      </p:sp>
      <p:pic>
        <p:nvPicPr>
          <p:cNvPr id="5" name="Picture 4" descr="air_quality_correlation.png"/>
          <p:cNvPicPr>
            <a:picLocks noChangeAspect="1"/>
          </p:cNvPicPr>
          <p:nvPr/>
        </p:nvPicPr>
        <p:blipFill>
          <a:blip r:embed="rId3"/>
          <a:stretch>
            <a:fillRect/>
          </a:stretch>
        </p:blipFill>
        <p:spPr>
          <a:xfrm>
            <a:off x="457200" y="1325880"/>
            <a:ext cx="5029200" cy="3297293"/>
          </a:xfrm>
          <a:prstGeom prst="rect">
            <a:avLst/>
          </a:prstGeom>
        </p:spPr>
      </p:pic>
      <p:sp>
        <p:nvSpPr>
          <p:cNvPr id="6" name="TextBox 5"/>
          <p:cNvSpPr txBox="1"/>
          <p:nvPr/>
        </p:nvSpPr>
        <p:spPr>
          <a:xfrm>
            <a:off x="5669280" y="1645920"/>
            <a:ext cx="3200400" cy="4572000"/>
          </a:xfrm>
          <a:prstGeom prst="rect">
            <a:avLst/>
          </a:prstGeom>
          <a:noFill/>
        </p:spPr>
        <p:txBody>
          <a:bodyPr wrap="square">
            <a:spAutoFit/>
          </a:bodyPr>
          <a:lstStyle/>
          <a:p>
            <a:pPr>
              <a:defRPr sz="1600" b="1">
                <a:solidFill>
                  <a:srgbClr val="003366"/>
                </a:solidFill>
              </a:defRPr>
            </a:pPr>
            <a:r>
              <a:t>Observation:</a:t>
            </a:r>
          </a:p>
          <a:p>
            <a:pPr>
              <a:spcBef>
                <a:spcPts val="200"/>
              </a:spcBef>
              <a:defRPr sz="1400"/>
            </a:pPr>
            <a:r>
              <a:t>Air quality metrics negatively correlate with wind speed and visibility in the dataset.</a:t>
            </a:r>
          </a:p>
          <a:p>
            <a:pPr>
              <a:spcBef>
                <a:spcPts val="1200"/>
              </a:spcBef>
              <a:defRPr sz="1600" b="1">
                <a:solidFill>
                  <a:srgbClr val="003366"/>
                </a:solidFill>
              </a:defRPr>
            </a:pPr>
            <a:r>
              <a:t>Insight:</a:t>
            </a:r>
          </a:p>
          <a:p>
            <a:pPr>
              <a:spcBef>
                <a:spcPts val="200"/>
              </a:spcBef>
              <a:defRPr sz="1400"/>
            </a:pPr>
            <a:r>
              <a:t>Lower wind speeds are statistically associated with higher measured levels of trapped pollutants.</a:t>
            </a:r>
          </a:p>
          <a:p>
            <a:pPr>
              <a:spcBef>
                <a:spcPts val="1200"/>
              </a:spcBef>
              <a:defRPr sz="1600" b="1">
                <a:solidFill>
                  <a:srgbClr val="003366"/>
                </a:solidFill>
              </a:defRPr>
            </a:pPr>
            <a:r>
              <a:t>Business Relevance:</a:t>
            </a:r>
          </a:p>
          <a:p>
            <a:pPr>
              <a:spcBef>
                <a:spcPts val="200"/>
              </a:spcBef>
              <a:defRPr sz="1400"/>
            </a:pPr>
            <a:r>
              <a:t>Limitation: Correlation does not imply causation; cannot be used to predict high-pollution days strictly based on incoming weather.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Global Spatial Temperature Distribution</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13</a:t>
            </a:r>
          </a:p>
        </p:txBody>
      </p:sp>
      <p:pic>
        <p:nvPicPr>
          <p:cNvPr id="5" name="Picture 4" descr="spatial_analysis_temp.png"/>
          <p:cNvPicPr>
            <a:picLocks noChangeAspect="1"/>
          </p:cNvPicPr>
          <p:nvPr/>
        </p:nvPicPr>
        <p:blipFill>
          <a:blip r:embed="rId3"/>
          <a:stretch>
            <a:fillRect/>
          </a:stretch>
        </p:blipFill>
        <p:spPr>
          <a:xfrm>
            <a:off x="457200" y="1645920"/>
            <a:ext cx="5029200" cy="2514600"/>
          </a:xfrm>
          <a:prstGeom prst="rect">
            <a:avLst/>
          </a:prstGeom>
        </p:spPr>
      </p:pic>
      <p:sp>
        <p:nvSpPr>
          <p:cNvPr id="6" name="TextBox 5"/>
          <p:cNvSpPr txBox="1"/>
          <p:nvPr/>
        </p:nvSpPr>
        <p:spPr>
          <a:xfrm>
            <a:off x="5669280" y="1645920"/>
            <a:ext cx="3200400" cy="4572000"/>
          </a:xfrm>
          <a:prstGeom prst="rect">
            <a:avLst/>
          </a:prstGeom>
          <a:noFill/>
        </p:spPr>
        <p:txBody>
          <a:bodyPr wrap="square">
            <a:spAutoFit/>
          </a:bodyPr>
          <a:lstStyle/>
          <a:p>
            <a:pPr>
              <a:defRPr sz="1600" b="1">
                <a:solidFill>
                  <a:srgbClr val="003366"/>
                </a:solidFill>
              </a:defRPr>
            </a:pPr>
            <a:r>
              <a:t>Observation:</a:t>
            </a:r>
          </a:p>
          <a:p>
            <a:pPr>
              <a:spcBef>
                <a:spcPts val="200"/>
              </a:spcBef>
              <a:defRPr sz="1400"/>
            </a:pPr>
            <a:r>
              <a:t>Higher temperatures visually cluster around the global equator.</a:t>
            </a:r>
          </a:p>
          <a:p>
            <a:pPr>
              <a:spcBef>
                <a:spcPts val="1200"/>
              </a:spcBef>
              <a:defRPr sz="1600" b="1">
                <a:solidFill>
                  <a:srgbClr val="003366"/>
                </a:solidFill>
              </a:defRPr>
            </a:pPr>
            <a:r>
              <a:t>Insight:</a:t>
            </a:r>
          </a:p>
          <a:p>
            <a:pPr>
              <a:spcBef>
                <a:spcPts val="200"/>
              </a:spcBef>
              <a:defRPr sz="1400"/>
            </a:pPr>
            <a:r>
              <a:t>Temperatures predictably decrease as coordinates shift towards the poles.</a:t>
            </a:r>
          </a:p>
          <a:p>
            <a:pPr>
              <a:spcBef>
                <a:spcPts val="1200"/>
              </a:spcBef>
              <a:defRPr sz="1600" b="1">
                <a:solidFill>
                  <a:srgbClr val="003366"/>
                </a:solidFill>
              </a:defRPr>
            </a:pPr>
            <a:r>
              <a:t>Business Relevance:</a:t>
            </a:r>
          </a:p>
          <a:p>
            <a:pPr>
              <a:spcBef>
                <a:spcPts val="200"/>
              </a:spcBef>
              <a:defRPr sz="1400"/>
            </a:pPr>
            <a:r>
              <a:t>Limitation: This visual representation is descriptive and not sufficient for dynamically mapping optimal shipping routes.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Key Findings</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14</a:t>
            </a:r>
          </a:p>
        </p:txBody>
      </p:sp>
      <p:sp>
        <p:nvSpPr>
          <p:cNvPr id="5" name="TextBox 4"/>
          <p:cNvSpPr txBox="1"/>
          <p:nvPr/>
        </p:nvSpPr>
        <p:spPr>
          <a:xfrm>
            <a:off x="457200" y="1463040"/>
            <a:ext cx="8229600" cy="4572000"/>
          </a:xfrm>
          <a:prstGeom prst="rect">
            <a:avLst/>
          </a:prstGeom>
          <a:noFill/>
        </p:spPr>
        <p:txBody>
          <a:bodyPr wrap="square">
            <a:spAutoFit/>
          </a:bodyPr>
          <a:lstStyle/>
          <a:p>
            <a:pPr>
              <a:spcBef>
                <a:spcPts val="1400"/>
              </a:spcBef>
            </a:pPr>
            <a:r>
              <a:rPr sz="1800">
                <a:solidFill>
                  <a:srgbClr val="000000"/>
                </a:solidFill>
                <a:latin typeface="Arial"/>
              </a:rPr>
              <a:t>•  Forecasting achieves high R²: Tree-based models (XGBoost) strongly predict test-set weather.</a:t>
            </a:r>
          </a:p>
          <a:p>
            <a:pPr>
              <a:spcBef>
                <a:spcPts val="1400"/>
              </a:spcBef>
            </a:pPr>
            <a:r>
              <a:rPr sz="1800">
                <a:solidFill>
                  <a:srgbClr val="000000"/>
                </a:solidFill>
                <a:latin typeface="Arial"/>
              </a:rPr>
              <a:t>•  Feature Dominance: The model relies almost entirely on feels_like_celsius.</a:t>
            </a:r>
          </a:p>
          <a:p>
            <a:pPr>
              <a:spcBef>
                <a:spcPts val="1400"/>
              </a:spcBef>
            </a:pPr>
            <a:r>
              <a:rPr sz="1800">
                <a:solidFill>
                  <a:srgbClr val="000000"/>
                </a:solidFill>
                <a:latin typeface="Arial"/>
              </a:rPr>
              <a:t>•  Anomalies can be flagged: Statistical algorithms can isolate extreme multi-variate readings.</a:t>
            </a:r>
          </a:p>
          <a:p>
            <a:pPr>
              <a:spcBef>
                <a:spcPts val="1400"/>
              </a:spcBef>
            </a:pPr>
            <a:r>
              <a:rPr sz="1800">
                <a:solidFill>
                  <a:srgbClr val="000000"/>
                </a:solidFill>
                <a:latin typeface="Arial"/>
              </a:rPr>
              <a:t>•  Environment correlation: Lower wind speeds correlate with reduced air quality.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914400"/>
          </a:xfrm>
        </p:spPr>
        <p:txBody>
          <a:bodyPr/>
          <a:lstStyle/>
          <a:p>
            <a:pPr>
              <a:defRPr sz="3600" b="1">
                <a:solidFill>
                  <a:srgbClr val="003366"/>
                </a:solidFill>
                <a:latin typeface="Arial"/>
              </a:defRPr>
            </a:pPr>
            <a:r>
              <a:t>Conclusion &amp; Next Steps</a:t>
            </a:r>
          </a:p>
        </p:txBody>
      </p:sp>
      <p:sp>
        <p:nvSpPr>
          <p:cNvPr id="3" name="Rectangle 2"/>
          <p:cNvSpPr/>
          <p:nvPr/>
        </p:nvSpPr>
        <p:spPr>
          <a:xfrm>
            <a:off x="457200" y="1188720"/>
            <a:ext cx="8229600" cy="457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0" y="6400800"/>
            <a:ext cx="914400" cy="457200"/>
          </a:xfrm>
          <a:prstGeom prst="rect">
            <a:avLst/>
          </a:prstGeom>
          <a:noFill/>
        </p:spPr>
        <p:txBody>
          <a:bodyPr wrap="none">
            <a:spAutoFit/>
          </a:bodyPr>
          <a:lstStyle/>
          <a:p>
            <a:pPr algn="r"/>
            <a:r>
              <a:rPr sz="1200">
                <a:solidFill>
                  <a:srgbClr val="003366"/>
                </a:solidFill>
              </a:rPr>
              <a:t>15</a:t>
            </a:r>
          </a:p>
        </p:txBody>
      </p:sp>
      <p:sp>
        <p:nvSpPr>
          <p:cNvPr id="5" name="TextBox 4"/>
          <p:cNvSpPr txBox="1"/>
          <p:nvPr/>
        </p:nvSpPr>
        <p:spPr>
          <a:xfrm>
            <a:off x="457200" y="1463040"/>
            <a:ext cx="8229600" cy="4572000"/>
          </a:xfrm>
          <a:prstGeom prst="rect">
            <a:avLst/>
          </a:prstGeom>
          <a:noFill/>
        </p:spPr>
        <p:txBody>
          <a:bodyPr wrap="square">
            <a:spAutoFit/>
          </a:bodyPr>
          <a:lstStyle/>
          <a:p>
            <a:pPr>
              <a:spcBef>
                <a:spcPts val="1400"/>
              </a:spcBef>
            </a:pPr>
            <a:r>
              <a:rPr sz="1800">
                <a:solidFill>
                  <a:srgbClr val="000000"/>
                </a:solidFill>
                <a:latin typeface="Arial"/>
              </a:rPr>
              <a:t>•  Achievement: Analyzed 148k+ records to build forecasting and anomaly detection baselines.</a:t>
            </a:r>
          </a:p>
          <a:p>
            <a:pPr>
              <a:spcBef>
                <a:spcPts val="1400"/>
              </a:spcBef>
            </a:pPr>
            <a:r>
              <a:rPr sz="1800">
                <a:solidFill>
                  <a:srgbClr val="000000"/>
                </a:solidFill>
                <a:latin typeface="Arial"/>
              </a:rPr>
              <a:t>•  Best Model: XGBoost achieved the highest performance metrics.</a:t>
            </a:r>
          </a:p>
          <a:p>
            <a:pPr>
              <a:spcBef>
                <a:spcPts val="1400"/>
              </a:spcBef>
            </a:pPr>
            <a:r>
              <a:rPr sz="1800">
                <a:solidFill>
                  <a:srgbClr val="000000"/>
                </a:solidFill>
                <a:latin typeface="Arial"/>
              </a:rPr>
              <a:t>•  Value Delivered: An analytical framework mapping historical weather relationships.</a:t>
            </a:r>
          </a:p>
          <a:p>
            <a:pPr>
              <a:spcBef>
                <a:spcPts val="1400"/>
              </a:spcBef>
            </a:pPr>
            <a:r>
              <a:rPr sz="1800">
                <a:solidFill>
                  <a:srgbClr val="000000"/>
                </a:solidFill>
                <a:latin typeface="Arial"/>
              </a:rPr>
              <a:t>•  Future Opportunity: Implement Deep Learning (LSTMs) for multi-week time-series horizons.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1389</Words>
  <Application>Microsoft Office PowerPoint</Application>
  <PresentationFormat>On-screen Show (16:9)</PresentationFormat>
  <Paragraphs>141</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Weather Trend Forecasting</vt:lpstr>
      <vt:lpstr>Executive Summary</vt:lpstr>
      <vt:lpstr>Dataset Overview: Global Weather Repository</vt:lpstr>
      <vt:lpstr>Data Cleaning &amp; Preprocessing Pipeline</vt:lpstr>
      <vt:lpstr>Exploratory Data Analysis: Temp &amp; Precip</vt:lpstr>
      <vt:lpstr>Machine Learning Forecasting Architecture</vt:lpstr>
      <vt:lpstr>Forecasting Model Evaluation Metrics</vt:lpstr>
      <vt:lpstr>Forecast Accuracy: Actual vs Predicted</vt:lpstr>
      <vt:lpstr>Feature Importance Drivers (XGBoost)</vt:lpstr>
      <vt:lpstr>Extreme Weather Anomaly Detection</vt:lpstr>
      <vt:lpstr>Geographic Continent-Level Climate Analysis</vt:lpstr>
      <vt:lpstr>Environmental Impact &amp; Air Quality</vt:lpstr>
      <vt:lpstr>Global Spatial Temperature Distribution</vt:lpstr>
      <vt:lpstr>Key Findings</vt:lpstr>
      <vt:lpstr>Conclusion &amp; Next Steps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Ayush Kumar</cp:lastModifiedBy>
  <cp:revision>2</cp:revision>
  <dcterms:created xsi:type="dcterms:W3CDTF">2013-01-27T09:14:16Z</dcterms:created>
  <dcterms:modified xsi:type="dcterms:W3CDTF">2026-06-21T08:44:07Z</dcterms:modified>
  <cp:category/>
</cp:coreProperties>
</file>